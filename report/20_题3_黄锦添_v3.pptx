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0349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各位老师好。我汇报题目三：无人设备电池健康评估与剩余寿命预测，20 组黄锦添。本项目不只给出寿命数值，同时给出其置信度。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数据为四块电池、636 个循环，无缺失无重复。横虚线为失效阈值，四条曲线穿越阈值的位置从 97 到 125 循环不等；B0007 全程未触及阈值，寿命只能给下界。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数据无缺失重复，主要工作是六类陷阱。最需注意右删失：把未失效记为 168 将系统性低估寿命。右下为防泄漏：两个派生列是容量的仿射变换，用作特征即标签泄漏。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个体差异按五个维度量化：初始容量相差 9.7%，衰减最快者是最慢者的 1.56 倍。同批三块的波动 82.4% 来自共同成分，远高于独立基准的三分之一，说明回升不是随机抖动，不能平滑。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本页是全文口径的起点。阈值每移动 0.01 Ah，寿命相差 3 至 4 个循环；但排序在 80 个阈值上从未翻转。因此后文寿命数字都附带阈值口径。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两类任务必须分开：任务 A 在单体内沿时间外推；任务 B 用几块电池预测新的一块，循环序号在其中构成泄漏特征。评测先用逐点符号检验与分块自助法，两判据同时显著方可下结论；十个统计特征无一优于零基准。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四模型同台，不用均方误差排名，因为只有四块电池，换切分点排序即变。结论：线性与趋势和高斯过程无显著差异；双指数在三块上显著更差；随机森林两块更差。不显著不等于一样好。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随机森林训练 R² 为 0.997、测试 R² 为负，劣于直接预测均值。原因不是过拟合：超出训练区间的输入必落入同一片叶子，输出为常数，加树加深均无效。该反例决定了主模型结构。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趋势和高斯过程把寿命由数值变为分布：300 条后验路径各求穿越点。须说明：平稳核不能自主外推，离开数据后均值归零、点预测退化为趋势线。其价值在给出区间。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将不确定性拆为三层并折算为循环，量级相当。定义层来自阈值惯例，不由模型决定。需说明：模型形式层的宽度全部来自双指数。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名义 90% 区间实际只覆盖 63%。更关键是块间差异：最好接近 99%，最差 10%。驱动因素是点预测偏差，块间差 22 倍，而区间宽度只差 1.15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维护判据：更换时刻等于更严阈值穿越点减裕度，代价是提前消耗 26% 至 42% 寿命。该判据为回测口径，在线须以预测穿越点替代。B0006 等不到收敛，直接更换。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五条结论：两条关于模型，两条关于不确定性，一条关于落地。全部结果一条命令重建，40 个产物逐字节一致，42 条变异测试与 43 条病态输入全部通过。谢谢老师。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备用页：阈值敏感性细节，问答时翻到这里。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备用页：任务 B 与 LOBOCV 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备用页：区间校准逐块数字。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备用页：复现命令与测试清单，老师要求现场跑的时候翻到这里。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048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BFCDE6"/>
                </a:solidFill>
                <a:latin typeface="宋体"/>
                <a:ea typeface="宋体"/>
                <a:cs typeface="宋体"/>
              </a:rPr>
              <a:t>《Python 数据分析编程》课程项目　·　题目三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55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无人设备电池健康评估与剩余寿命预测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2000" b="0">
                <a:solidFill>
                  <a:srgbClr val="D8E2F2"/>
                </a:solidFill>
                <a:latin typeface="宋体"/>
                <a:ea typeface="宋体"/>
                <a:cs typeface="宋体"/>
              </a:rPr>
              <a:t>容量退化建模与不确定性量化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BFCDE6"/>
                </a:solidFill>
                <a:latin typeface="宋体"/>
                <a:ea typeface="宋体"/>
                <a:cs typeface="宋体"/>
              </a:rPr>
              <a:t>第 20 组　黄锦添　25121605　·　上海大学 未来技术学院 人工智能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16636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2180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4 块 · 636 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87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8E2F2"/>
                </a:solidFill>
                <a:latin typeface="宋体"/>
                <a:ea typeface="宋体"/>
                <a:cs typeface="宋体"/>
              </a:rPr>
              <a:t>NASA PCoE 锂离子电池老化数据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516636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23360" y="532180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4 类模型 · 2 个任务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5687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8E2F2"/>
                </a:solidFill>
                <a:latin typeface="宋体"/>
                <a:ea typeface="宋体"/>
                <a:cs typeface="宋体"/>
              </a:rPr>
              <a:t>个体内外推 / 跨个体早期预测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5166360"/>
            <a:ext cx="3200400" cy="960120"/>
          </a:xfrm>
          <a:prstGeom prst="roundRect">
            <a:avLst>
              <a:gd name="adj" fmla="val 12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532180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1 条命令重建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6875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D8E2F2"/>
                </a:solidFill>
                <a:latin typeface="宋体"/>
                <a:ea typeface="宋体"/>
                <a:cs typeface="宋体"/>
              </a:rPr>
              <a:t>17 步管线 · 40 个产物逐字节一致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01 · 问题与数据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容量退化曲线与实测寿命分布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02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pic>
        <p:nvPicPr>
          <p:cNvPr id="8" name="Picture 7" descr="fig01_capacity_degra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949440" cy="4562027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18120" y="1371600"/>
            <a:ext cx="384048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NASA PCoE 老化实验：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4 块锂离子电池、逐循环放电容量、恒温 24 ℃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EOL 判据：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容量首次 ≤ 1.4 Ah（额定的 70%）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实测寿命：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B0005 = 125，B0006 = 109，B0018 = 97 循环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B0007：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观测 168 循环未跌破阈值，右删失，寿命 &gt; 168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曲线不光滑：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存在容量再生式回升，最大单步 +0.1519 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01 · 问题与数据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六类数据陷阱的处理决策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03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499616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陷阱 1｜温度列零方差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8366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636 行全为 24.0 ℃，保留但禁止作特征，温度维度不可分析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3716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3716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499616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陷阱 2｜容量超额定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88366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B0006 前 7 循环 &gt; 2.0 Ah，保留原值并加标记列，截断将改变衰减斜率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3716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5864" y="13716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2" y="1499616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陷阱 3｜容量再生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188366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12 个电池与循环组合回升超过 0.05 Ah，不做平滑处理，建模阶段以趋势加残差结构显式表达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004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2004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328416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陷阱 4｜右删失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71246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B0007 观测 168 循环未达阈值，寿命记为大于 168，即右删失；误记为 168 将系统性低估寿命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32004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79392" y="3200400"/>
            <a:ext cx="82296" cy="15727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80560" y="3328416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陷阱 5｜统计离群点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71246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3σ 与 IQR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两种口径均未标出离群点，趋势数据不存在离群点</a:t>
            </a:r>
            <a:endParaRPr sz="1150" b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55864" y="3200400"/>
            <a:ext cx="3611880" cy="1572768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5864" y="3200400"/>
            <a:ext cx="82296" cy="1572768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2" y="3328416"/>
            <a:ext cx="328269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陷阱 6｜特征泄漏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3712464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cap/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额定与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cap/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首循环为容量列的精确仿射变换，残差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2.2×10⁻¹⁶，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用作特征将构成标签泄漏</a:t>
            </a:r>
            <a:endParaRPr sz="1150" b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清理结果：636 行记录全部保留，未删除任何一条；全部决策由 11 条数据体检断言约束，数据更新将触发断言失败而非静默通过。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02 · 退化规律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个体差异量化与容量再生的共模成分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04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63573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dirty="0" err="1">
                <a:solidFill>
                  <a:srgbClr val="595959"/>
                </a:solidFill>
                <a:latin typeface="宋体"/>
                <a:ea typeface="宋体"/>
                <a:cs typeface="宋体"/>
              </a:rPr>
              <a:t>注：归一化形状仅用于展示，不得用作特征</a:t>
            </a:r>
            <a:r>
              <a:rPr sz="950" b="0" dirty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。</a:t>
            </a:r>
          </a:p>
        </p:txBody>
      </p:sp>
      <p:pic>
        <p:nvPicPr>
          <p:cNvPr id="11" name="Picture 10" descr="fig04_trend_resid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758" y="1112949"/>
            <a:ext cx="4437775" cy="3373581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263640" y="4526280"/>
            <a:ext cx="5440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五维量化：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水平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/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速率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/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形状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/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波动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/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寿命，逐维给数</a:t>
            </a:r>
            <a:endParaRPr sz="1200" b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共模分解：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同批三块电池的残差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82.4%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来自共同成分（零基准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33.3%），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三块在循环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90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同时出现各自最大回升</a:t>
            </a:r>
            <a:endParaRPr sz="1200" b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结论：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容量再生不构成个体独立的随机现象，共模成分计入数据层不确定性，不得以平滑方式消除</a:t>
            </a:r>
            <a:endParaRPr sz="1200" b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pic>
        <p:nvPicPr>
          <p:cNvPr id="13" name="Picture 12" descr="p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787" y="982845"/>
            <a:ext cx="3406779" cy="2501885"/>
          </a:xfrm>
          <a:prstGeom prst="rect">
            <a:avLst/>
          </a:prstGeom>
        </p:spPr>
      </p:pic>
      <p:pic>
        <p:nvPicPr>
          <p:cNvPr id="14" name="Picture 13" descr="p4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525" y="3672555"/>
            <a:ext cx="3487301" cy="2501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02 · 退化规律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寿命读数对阈值的敏感性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05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pic>
        <p:nvPicPr>
          <p:cNvPr id="8" name="Picture 7" descr="fig05_eol_threshold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83" y="1371600"/>
            <a:ext cx="7285497" cy="4709160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1371600"/>
            <a:ext cx="37947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±0.05 Ah 窗口：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寿命读数极差 30–40 循环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换 EOL 口径：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同一块电池寿命最大相差 2.16 倍；计入删失下界至少 2.96 倍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排序稳定：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80 个阈值上恒为 B0018 &lt; B0006 &lt; B0005 &lt; B0007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3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B0007 删失裕度极小：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最低容量距阈值仅 0.0005 Ah（额定的 0.025%）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709160"/>
            <a:ext cx="3794760" cy="11430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4864608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方法论结论：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寿命序关系的报告可不带阈值；寿命点估计的报告必须注明阈值与窗口口径。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03 ·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任务定义与评测口径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06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440680" cy="475488"/>
          </a:xfrm>
          <a:prstGeom prst="roundRect">
            <a:avLst>
              <a:gd name="adj" fmla="val 7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99032"/>
            <a:ext cx="5074920" cy="231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 dirty="0" err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任务</a:t>
            </a:r>
            <a:r>
              <a:rPr sz="1450" b="1" dirty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 </a:t>
            </a:r>
            <a:r>
              <a:rPr sz="1450" b="1" dirty="0" err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A｜个体内轨迹外推</a:t>
            </a:r>
            <a:endParaRPr sz="145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49834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输入：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一块电池自己的前 M = 80 个循环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输出：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后段容量 + EOL（外推 52–88 循环）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模型：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M1 线性 / M2 双指数 / M3 随机森林 / M4 趋势和 GPR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循环序号：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作为时间轴（回归自变量）使用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325880"/>
            <a:ext cx="5440680" cy="2331720"/>
          </a:xfrm>
          <a:prstGeom prst="roundRect">
            <a:avLst>
              <a:gd name="adj" fmla="val 7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45352" y="1325880"/>
            <a:ext cx="5440680" cy="475488"/>
          </a:xfrm>
          <a:prstGeom prst="roundRect">
            <a:avLst>
              <a:gd name="adj" fmla="val 7000"/>
            </a:avLst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399032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任务 B｜跨个体早期预测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965960"/>
            <a:ext cx="49834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输入：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前 K = 50 循环提取的 10 个统计特征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输出：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一块没见过的电池的寿命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验证：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留一电池交叉验证（LOBOCV）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循环序号：</a:t>
            </a: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标签泄漏特征，禁止使用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结果：无一特征优于零基准，MAE 14.7 循环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77639"/>
            <a:ext cx="11183112" cy="182880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 w="9525">
            <a:solidFill>
              <a:srgbClr val="C9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评测口径三条纪律：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① 时序划分，不随机打乱；训练段指标不参与排名，记忆样本不代表外推能力；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② 不以平均 R² 排名（分母是各自方差，跨电池平均不具备统计意义），改用两个独立判据：逐点符号检验 + 分块自助法置信区间（块长 1/3/5/10/20 × 2000 次重采样），两判据同时显著方可下结论；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③ EOL 按三态分开报告：有值 / 真值删失 / 模型不越阈，混合统计将引入系统性错误。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04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四模型对比与显著性判定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07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5335" y="1467029"/>
            <a:ext cx="41148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M4 vs M1：仅 B0005 两判据一致显著（86/88 </a:t>
            </a:r>
            <a:r>
              <a:rPr sz="110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点更近，p</a:t>
            </a:r>
            <a:r>
              <a:rPr sz="110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 = 2.5×10⁻²³），</a:t>
            </a:r>
            <a:r>
              <a:rPr sz="110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其余可忽略或冲突，点预测精度无实质差异</a:t>
            </a:r>
            <a:endParaRPr sz="1100" b="1" dirty="0">
              <a:solidFill>
                <a:srgbClr val="E07B27"/>
              </a:solidFill>
              <a:latin typeface="微软雅黑"/>
              <a:ea typeface="微软雅黑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 dirty="0">
                <a:solidFill>
                  <a:srgbClr val="1F3864"/>
                </a:solidFill>
                <a:latin typeface="宋体"/>
                <a:ea typeface="宋体"/>
                <a:cs typeface="宋体"/>
              </a:rPr>
              <a:t>M2 </a:t>
            </a:r>
            <a:r>
              <a:rPr sz="125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双指数：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三块上显著更差；主因不是参数不可辨识（条件数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10¹¹–10¹²），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而是末端系统性低估寿命</a:t>
            </a:r>
            <a:endParaRPr sz="1150" b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 dirty="0">
                <a:solidFill>
                  <a:srgbClr val="1F3864"/>
                </a:solidFill>
                <a:latin typeface="宋体"/>
                <a:ea typeface="宋体"/>
                <a:cs typeface="宋体"/>
              </a:rPr>
              <a:t>M3 </a:t>
            </a:r>
            <a:r>
              <a:rPr sz="125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随机森林：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两块显著更差；EOL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预测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4/4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不越阈</a:t>
            </a:r>
            <a:endParaRPr sz="1150" b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 dirty="0">
                <a:solidFill>
                  <a:srgbClr val="1F3864"/>
                </a:solidFill>
                <a:latin typeface="宋体"/>
                <a:ea typeface="宋体"/>
                <a:cs typeface="宋体"/>
              </a:rPr>
              <a:t>EOL 误差：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M1 / M4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平均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12.0 循环，M2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平均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12.7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循环</a:t>
            </a:r>
            <a:endParaRPr sz="1150" b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25335" y="3861600"/>
            <a:ext cx="37490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结论</a:t>
            </a:r>
            <a:r>
              <a:rPr sz="12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：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M4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的增量价值不在点预测精度，而在输出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EOL </a:t>
            </a:r>
            <a:r>
              <a:rPr sz="12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后验分布与预测区间</a:t>
            </a:r>
            <a:r>
              <a:rPr sz="12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。</a:t>
            </a:r>
          </a:p>
        </p:txBody>
      </p:sp>
      <p:pic>
        <p:nvPicPr>
          <p:cNvPr id="13" name="Picture 12" descr="p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32" y="1217982"/>
            <a:ext cx="4193046" cy="2418781"/>
          </a:xfrm>
          <a:prstGeom prst="rect">
            <a:avLst/>
          </a:prstGeom>
        </p:spPr>
      </p:pic>
      <p:pic>
        <p:nvPicPr>
          <p:cNvPr id="14" name="Picture 13" descr="p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301" y="3894118"/>
            <a:ext cx="3902750" cy="24780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04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随机森林的外推失效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08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pic>
        <p:nvPicPr>
          <p:cNvPr id="8" name="Picture 7" descr="fig07_rf_extrapo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56" y="1234440"/>
            <a:ext cx="6418615" cy="4123944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543800" y="132588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41732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0.997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1993392"/>
            <a:ext cx="18196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训练段 R²（逐点记忆训练样本）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234440"/>
            <a:ext cx="1965960" cy="123444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1325880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B33030"/>
                </a:solidFill>
                <a:latin typeface="宋体"/>
                <a:ea typeface="宋体"/>
                <a:cs typeface="宋体"/>
              </a:rPr>
              <a:t>−3.57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65792" y="1901952"/>
            <a:ext cx="18196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测试段 R² 最差（B0005），4/4 为负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834640"/>
            <a:ext cx="41148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 dirty="0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机制可证明：</a:t>
            </a:r>
            <a:r>
              <a:rPr sz="11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超出训练区间的输入永远走同一条分裂路径，316 </a:t>
            </a:r>
            <a:r>
              <a:rPr sz="11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个测试点预测值完全相同（极差</a:t>
            </a:r>
            <a:r>
              <a:rPr sz="11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= 0）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树长到底时：</a:t>
            </a:r>
            <a:r>
              <a:rPr sz="11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外推值等于末次训练观测，即模型外推能力的信息上限</a:t>
            </a:r>
            <a:endParaRPr sz="1100" b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加树不能修复：10 → 1000 </a:t>
            </a:r>
            <a:r>
              <a:rPr sz="10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棵，外推常数最多动</a:t>
            </a:r>
            <a:r>
              <a:rPr sz="10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 0.0037 </a:t>
            </a:r>
            <a:r>
              <a:rPr sz="10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Ah，失效源于偏差而非方差</a:t>
            </a:r>
            <a:endParaRPr sz="1050" b="1" dirty="0">
              <a:solidFill>
                <a:srgbClr val="E07B27"/>
              </a:solidFill>
              <a:latin typeface="微软雅黑"/>
              <a:ea typeface="微软雅黑"/>
            </a:endParaRP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寿命预测方向错误：</a:t>
            </a:r>
            <a:r>
              <a:rPr sz="11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对三块已失效个体均预测不越阈</a:t>
            </a:r>
            <a:endParaRPr sz="1100" b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75488" y="5454396"/>
            <a:ext cx="11183112" cy="777240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" y="5756148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由该反例引出主模型设计：</a:t>
            </a:r>
            <a:r>
              <a:rPr sz="130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先拟合线性趋势，再以高斯过程建模残差，趋势项与残差项均显式携带方差</a:t>
            </a:r>
            <a:r>
              <a:rPr sz="130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04 ·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趋势和高斯过程回归的寿命后验分布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09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pic>
        <p:nvPicPr>
          <p:cNvPr id="8" name="Picture 7" descr="fig09_gpr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2" y="1234440"/>
            <a:ext cx="6032328" cy="3957388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pic>
        <p:nvPicPr>
          <p:cNvPr id="9" name="Picture 8" descr="fig10_eol_posteri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741" y="1235790"/>
            <a:ext cx="5377474" cy="3211341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544221" y="4590288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dirty="0" err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结构：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cap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(t) =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线性趋势和残差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GP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之和；趋势参数方差显式传播</a:t>
            </a:r>
            <a:endParaRPr sz="1150" b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dirty="0">
                <a:solidFill>
                  <a:srgbClr val="1F3864"/>
                </a:solidFill>
                <a:latin typeface="宋体"/>
                <a:ea typeface="宋体"/>
                <a:cs typeface="宋体"/>
              </a:rPr>
              <a:t>产出：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300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条后验路径各自求穿越，EOL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成为分布（B0005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中位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145，90%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区间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129–164）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适用性说明：RBF</a:t>
            </a:r>
            <a:r>
              <a:rPr sz="12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 </a:t>
            </a:r>
            <a:r>
              <a:rPr sz="12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核相关长度仅</a:t>
            </a:r>
            <a:r>
              <a:rPr sz="12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 3.6–23 </a:t>
            </a:r>
            <a:r>
              <a:rPr sz="12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循环，外推</a:t>
            </a:r>
            <a:r>
              <a:rPr sz="1250" b="1" dirty="0">
                <a:solidFill>
                  <a:srgbClr val="E07B27"/>
                </a:solidFill>
                <a:latin typeface="宋体"/>
                <a:ea typeface="宋体"/>
                <a:cs typeface="宋体"/>
              </a:rPr>
              <a:t> 52–88，远场点预测退化为趋势线，GP </a:t>
            </a:r>
            <a:r>
              <a:rPr sz="1250" b="1" dirty="0" err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的贡献在于如实放大区间而非提升精度</a:t>
            </a:r>
            <a:endParaRPr sz="1250" b="1" dirty="0">
              <a:solidFill>
                <a:srgbClr val="E07B27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5623560" cy="6858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56" y="542239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该区间仅含数据层不确定性（残差噪声与趋势参数方差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），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不含定义层与模型形式层，其校准缺口在第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 6 </a:t>
            </a:r>
            <a:r>
              <a:rPr sz="1150" b="0" dirty="0" err="1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章定量归因</a:t>
            </a:r>
            <a:r>
              <a:rPr sz="1150" b="0" dirty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05 · 不确定性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三层不确定性预算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10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371600"/>
            <a:ext cx="4297680" cy="132588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1371600"/>
            <a:ext cx="82296" cy="13258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07808" y="148132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定义层　</a:t>
            </a: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11–20</a:t>
            </a: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 循环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1938528"/>
            <a:ext cx="3886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失效判据阈值选取（τ ± 0.05 Ah）引入的 EOL 极差，属口径约定而非模型误差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852928"/>
            <a:ext cx="4297680" cy="132588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2852928"/>
            <a:ext cx="82296" cy="132588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07808" y="29626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模型形式层　</a:t>
            </a: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0–22</a:t>
            </a: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 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3419856"/>
            <a:ext cx="3886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模型形式选择引入的 EOL 半极差，其宽度全部来自双指数模型，应解释为形式差异的上界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4334256"/>
            <a:ext cx="4297680" cy="1325880"/>
          </a:xfrm>
          <a:prstGeom prst="roundRect">
            <a:avLst>
              <a:gd name="adj" fmla="val 9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20" y="4334256"/>
            <a:ext cx="82296" cy="1325880"/>
          </a:xfrm>
          <a:prstGeom prst="rect">
            <a:avLst/>
          </a:prstGeom>
          <a:solidFill>
            <a:srgbClr val="2A4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07808" y="444398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数据层　</a:t>
            </a: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6–20</a:t>
            </a: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 循环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901184"/>
            <a:ext cx="3886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残差噪声与趋势参数，取自 M4 后验 90% 半宽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989320"/>
            <a:ext cx="6492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合并口径：RSS 为独立假设下的乐观口径，SUM 为最坏情况下的保守口径，宽度 28–53 循环；运维取 SUM。</a:t>
            </a:r>
          </a:p>
        </p:txBody>
      </p:sp>
      <p:pic>
        <p:nvPicPr>
          <p:cNvPr id="23" name="Picture 22" descr="p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789" y="1136340"/>
            <a:ext cx="3818694" cy="2284913"/>
          </a:xfrm>
          <a:prstGeom prst="rect">
            <a:avLst/>
          </a:prstGeom>
        </p:spPr>
      </p:pic>
      <p:pic>
        <p:nvPicPr>
          <p:cNvPr id="24" name="Picture 23" descr="p1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789" y="3556635"/>
            <a:ext cx="3795787" cy="23885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05 · 不确定性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区间校准与覆盖缺口的归因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11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3716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630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B33030"/>
                </a:solidFill>
                <a:latin typeface="宋体"/>
                <a:ea typeface="宋体"/>
                <a:cs typeface="宋体"/>
              </a:rPr>
              <a:t>63%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084832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名义 90% 区间的实际覆盖率（316 个测试点）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137160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46304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5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10% / 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2" y="2084832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逐块覆盖率最差 / 最好（极差 89 个百分点）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971800"/>
            <a:ext cx="475488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驱动因素是偏差：点预测中位偏差逐块差 22.5 倍，区间宽度只差 1.15 倍，区间宽度与预测精度相互独立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有效样本量受自相关折减：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4 条序列高度自相关，有效样本约 109，块间差异在噪声范围内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结论随切分点摆动：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M = 60 / 80 / 100 下合并覆盖率为 34% / 63% / 67%，引用必须带 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补到 90% 需放宽 2.8 倍：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测试集上的事后诊断量，不可直接部署</a:t>
            </a:r>
          </a:p>
        </p:txBody>
      </p:sp>
      <p:pic>
        <p:nvPicPr>
          <p:cNvPr id="17" name="Picture 16" descr="p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220" y="1162766"/>
            <a:ext cx="4184003" cy="2638699"/>
          </a:xfrm>
          <a:prstGeom prst="rect">
            <a:avLst/>
          </a:prstGeom>
        </p:spPr>
      </p:pic>
      <p:pic>
        <p:nvPicPr>
          <p:cNvPr id="18" name="Picture 17" descr="p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657" y="4003604"/>
            <a:ext cx="3984391" cy="2497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06 · 运维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三条维护判据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12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6154" y="1447084"/>
            <a:ext cx="4114800" cy="1024128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4754" y="153852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S1 更换时刻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4754" y="1885996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等于更严阈值 1.45 Ah 下的实测穿越点减去模型与数据裕度；该穿越点在完整序列上读出，属回测口径，在线部署须以预测穿越点替代，此时不晚于失效的构造保证不再成立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542032"/>
            <a:ext cx="4114800" cy="1024128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74754" y="270895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S2 采集时长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4754" y="3056428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观测到预测稳定时刻（第 50–100 循环）再报寿命，可省 68–98 循环的数据量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712464"/>
            <a:ext cx="4114800" cy="1024128"/>
          </a:xfrm>
          <a:prstGeom prst="roundRect">
            <a:avLst>
              <a:gd name="adj" fmla="val 10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4754" y="387938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S3 阈值口径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4754" y="4226860"/>
            <a:ext cx="3703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先把 τ 与窗口写进规范：报排序可以不带 τ，报绝对寿命必须带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5029200"/>
            <a:ext cx="4114800" cy="868680"/>
          </a:xfrm>
          <a:prstGeom prst="roundRect">
            <a:avLst>
              <a:gd name="adj" fmla="val 8000"/>
            </a:avLst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29033" y="5214412"/>
            <a:ext cx="37490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B33030"/>
                </a:solidFill>
                <a:latin typeface="宋体"/>
                <a:ea typeface="宋体"/>
                <a:cs typeface="宋体"/>
              </a:rPr>
              <a:t>例外：B0006 到达预测稳态时刻时已晚于建议更换点，其在线剩余寿命为负；对该个体不等待区间收敛，按早期观测直接安排更换。</a:t>
            </a:r>
          </a:p>
        </p:txBody>
      </p:sp>
      <p:pic>
        <p:nvPicPr>
          <p:cNvPr id="21" name="Picture 20" descr="p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53" y="1170432"/>
            <a:ext cx="4045760" cy="2535763"/>
          </a:xfrm>
          <a:prstGeom prst="rect">
            <a:avLst/>
          </a:prstGeom>
        </p:spPr>
      </p:pic>
      <p:pic>
        <p:nvPicPr>
          <p:cNvPr id="22" name="Picture 21" descr="p1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53" y="3803904"/>
            <a:ext cx="4114800" cy="25790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07 ·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3474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13</a:t>
            </a: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 /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264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35331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寿命是依赖阈值口径的统计量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82496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阈值 ±0.05 Ah → 读数差 30–40 循环；序关系在 80 个阈值上不变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39696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2286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1284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高训练精度不构成外推能力的证据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42032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随机森林训练 R² 0.997、测试全负，树模型函数类不包含趋势成分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99232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1455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07238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定义层与模型形式层不确定性不小于数据层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40156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定义层 / 模型形式层 / 数据层 = 11–20 / 0–22 / 6–20 循环，同量级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858768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005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9319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区间宽度与预测精度相互独立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61104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名义 90% 实际覆盖 63%，缺口由点预测偏差驱动；区间收敛不构成预测正确的充分条件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18304"/>
            <a:ext cx="11183112" cy="749808"/>
          </a:xfrm>
          <a:prstGeom prst="roundRect">
            <a:avLst>
              <a:gd name="adj" fmla="val 12000"/>
            </a:avLst>
          </a:prstGeom>
          <a:solidFill>
            <a:srgbClr val="ED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4864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91456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维护判据须将口径约定与不确定性分离报告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206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595959"/>
                </a:solidFill>
                <a:latin typeface="宋体"/>
                <a:ea typeface="宋体"/>
                <a:cs typeface="宋体"/>
              </a:rPr>
              <a:t>更换时刻 = 更严阈值穿越点 − 裕度；代价 26.3%–41.6% 寿命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715000"/>
            <a:ext cx="11183112" cy="566928"/>
          </a:xfrm>
          <a:prstGeom prst="roundRect">
            <a:avLst>
              <a:gd name="adj" fmla="val 1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全部结果一条命令重建：</a:t>
            </a:r>
            <a:r>
              <a:rPr sz="1200" b="0">
                <a:solidFill>
                  <a:srgbClr val="FFFFFF"/>
                </a:solidFill>
                <a:latin typeface="宋体"/>
                <a:ea typeface="宋体"/>
                <a:cs typeface="宋体"/>
              </a:rPr>
              <a:t>python scripts/run_all.py --check（17 步 · 40 个产物逐字节一致 · 42 条变异测试 + 43 条病态输入全过）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备用 A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EOL 阈值敏感性全表与口径换算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备用 </a:t>
            </a: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949440" cy="180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阈值口径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B0005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B0006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B0007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B0018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τ = 1.60 Ah（额定 80%）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τ = 1.40 Ah（额定 70%，主线）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125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109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删失(&gt;168)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97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τ = 1.30 Ah（额定 65%）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删失(&gt;168)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删失(&gt;132)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474720"/>
            <a:ext cx="69494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口径换算：</a:t>
            </a: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四种 EOL 定义下同一块电池寿命最大差 2.16 倍；计入删失下界至少 2.96 倍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B0007 的特殊性：</a:t>
            </a: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有效窗口只有 0.0495 Ah，不能与另三块同尺比较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容量—寿命换算：</a:t>
            </a: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|b| ≈ 0.003–0.007 Ah/循环 ⇒ 容量差 0.01 Ah ≈ 寿命差 1.4–3.3 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371600"/>
            <a:ext cx="393192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备答要点：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口径选择的依据：70% 为工程惯例（额定 80%/70% 均常见）；本报告不依赖单一选择，τ 全区间扫描加四种口径对照，排序结论在 80 个 τ 上不变。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B0007 的处理：右删失，全程单独立口径，寿命记 &gt; 168，不与已失效个体混算误差。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备用 B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任务 B 的 LOBOCV 与零基准结果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备用 </a:t>
            </a: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B</a:t>
            </a:r>
          </a:p>
        </p:txBody>
      </p:sp>
      <p:pic>
        <p:nvPicPr>
          <p:cNvPr id="8" name="Picture 7" descr="fig11_lobo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6309360" cy="2308752"/>
          </a:xfrm>
          <a:prstGeom prst="rect">
            <a:avLst/>
          </a:prstGeom>
          <a:ln w="9525">
            <a:solidFill>
              <a:srgbClr val="D5DC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086600" y="141732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设置：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前 K = 50 循环提取 10 个特征；留一电池交叉验证，有标签个体 n = 3，每折训练 2 个点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结果：零基准（训练均值）MAE = 14.7 循环；最好的单特征 26.4，全部特征模型均不及零基准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最坏一折：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用首循环容量预测 B0006 得 3463 循环（真值 109）：两个训练点特征只差 0.0015，斜率被放大 667 倍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防泄漏证据：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扰动臂 + 删行臂两条正实验逐格判等，三条负控制（未来值 / 未来行数 / 未来标签）全部被检出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正确读法：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并非机器学习方法无效，而是 3 个有标签个体不足以支撑跨个体学习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备用 C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区间校准逐块明细与有效样本量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备用 </a:t>
            </a: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5836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90% 档逐块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B0005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B0006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B0007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宋体"/>
                          <a:ea typeface="宋体"/>
                          <a:cs typeface="宋体"/>
                        </a:rPr>
                        <a:t>B0018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PICP（实际覆盖率）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84.1%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98.9%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53.8%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MPIW（Ah）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0.1446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0.1482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0.1369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0.1286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中位偏差（Ah）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0.0564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0.1732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0.0077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0.0574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有效样本量（AR1 近似）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12.9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2.9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90.1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宋体"/>
                          <a:ea typeface="宋体"/>
                          <a:cs typeface="宋体"/>
                        </a:rPr>
                        <a:t>3.2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749039"/>
            <a:ext cx="658368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316 个点 ≠ 316 个独立样本：</a:t>
            </a: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4 条序列 lag-1 自相关最高 0.937，合并有效样本约 109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剔除任一块：合并 PICP@90 在 48.7%–82.9% 之间摆动，块间差异不应解释为个体固有差异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5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M 依赖性：</a:t>
            </a:r>
            <a:r>
              <a:rPr sz="115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M = 60 / 80 / 100 下合并 PICP@90 = 34% / 63% / 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371600"/>
            <a:ext cx="42062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备答要点：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区间不主动放宽的理由：放宽区间可改善覆盖率读数，但会掩盖不确定性；本报告选择如实暴露缺口并归因于点预测偏差。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2.8 倍放宽因子的性质：测试集上的事后诊断量而非校准方案，以测试真值调节区间，不可部署。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27940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"/>
            <a:ext cx="118872" cy="118872"/>
          </a:xfrm>
          <a:prstGeom prst="rect">
            <a:avLst/>
          </a:prstGeom>
          <a:solidFill>
            <a:srgbClr val="E07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91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>
                <a:solidFill>
                  <a:srgbClr val="BFCDE6"/>
                </a:solidFill>
                <a:latin typeface="宋体"/>
                <a:ea typeface="宋体"/>
                <a:cs typeface="宋体"/>
              </a:rPr>
              <a:t>备用 D　·　备用页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复现、测试与仓库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34747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9FB3D6"/>
                </a:solidFill>
                <a:latin typeface="宋体"/>
                <a:ea typeface="宋体"/>
                <a:cs typeface="宋体"/>
              </a:rPr>
              <a:t>备用 </a:t>
            </a: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210312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$ python scripts/run_all.py --check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D8E2F2"/>
                </a:solidFill>
                <a:latin typeface="宋体"/>
                <a:ea typeface="宋体"/>
                <a:cs typeface="宋体"/>
              </a:rPr>
              <a:t>17 步管线约 90 秒；与 MANIFEST.sha256 对账，40 个产物逐字节一致（干净副本中实测通过）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宋体"/>
                <a:ea typeface="宋体"/>
                <a:cs typeface="宋体"/>
              </a:rPr>
              <a:t>$ python scripts/mutation_test.py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>
                <a:solidFill>
                  <a:srgbClr val="D8E2F2"/>
                </a:solidFill>
                <a:latin typeface="宋体"/>
                <a:ea typeface="宋体"/>
                <a:cs typeface="宋体"/>
              </a:rPr>
              <a:t>42 条注入错误必须全部被抓，以验证断言的判别力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2578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仓库：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github.com/Tony-Stank-shift/battery-health-and-lifespan-prediction（Git 管理，分工与提交记录一一对应）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病态输入测试 43 条：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NaN / 常数序列 / 单点 / 空表……不许静默给错答案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数据体检断言 11 条：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写死关键常量，课程方更新数据会立刻报警（特性，不是 bug）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050" b="1">
                <a:solidFill>
                  <a:srgbClr val="E07B27"/>
                </a:solidFill>
                <a:latin typeface="宋体"/>
                <a:ea typeface="宋体"/>
                <a:cs typeface="宋体"/>
              </a:rPr>
              <a:t>▪ </a:t>
            </a:r>
            <a:r>
              <a:rPr sz="1200" b="1">
                <a:solidFill>
                  <a:srgbClr val="1F3864"/>
                </a:solidFill>
                <a:latin typeface="宋体"/>
                <a:ea typeface="宋体"/>
                <a:cs typeface="宋体"/>
              </a:rPr>
              <a:t>管线 17 步：</a:t>
            </a:r>
            <a:r>
              <a:rPr sz="1100" b="0">
                <a:solidFill>
                  <a:srgbClr val="262626"/>
                </a:solidFill>
                <a:latin typeface="宋体"/>
                <a:ea typeface="宋体"/>
                <a:cs typeface="宋体"/>
              </a:rPr>
              <a:t>数据体检 → 清洗 → 退化分析 → 再生分解 → 阈值敏感性 → 特征与泄漏证明 → 评测口径 → 四个模型 → 对比 → 三层不确定性 → 预警 → 放大 → 校准 → 策略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1674</Words>
  <Application>Microsoft Office PowerPoint</Application>
  <PresentationFormat>宽屏</PresentationFormat>
  <Paragraphs>244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yong Huang</cp:lastModifiedBy>
  <cp:revision>4</cp:revision>
  <dcterms:created xsi:type="dcterms:W3CDTF">2013-01-27T09:14:16Z</dcterms:created>
  <dcterms:modified xsi:type="dcterms:W3CDTF">2026-10-31T08:19:28Z</dcterms:modified>
  <cp:category/>
</cp:coreProperties>
</file>