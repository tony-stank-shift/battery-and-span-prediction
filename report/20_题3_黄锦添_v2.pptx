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各位老师好。我汇报题目三：无人设备电池健康评估与剩余寿命预测，20 组黄锦添。一句话：我做的不是猜一个寿命数字，而是把这个数字能信到什么程度讲清楚。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先看数据。四块电池、636 个循环，没有缺失、没有重复。横虚线是失效阈值，四条曲线穿过它的位置从 97 到 125 循环不等；最上面的 B0007 整个观测期都没碰到线——只能给下界，不能给数。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这份数据没有缺失、没有重复，真正的工作是五个陷阱。最需要记住的是右删失：把没坏记成 168，寿命就被系统性低估。右下角是防泄漏：两个派生列是容量的仿射变换，用作特征等于标签泄漏。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个体差异按五个维度量化：初始容量差 9.7%，衰减速率最快的是最慢的 1.56 倍。更有意思的是右边：同批三块的波动 82.4% 来自共同成分，远高于独立基准的三分之一——回升不是各自的随机抖动，不能被平滑掉。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这页是全项目的伏笔。阈值每挪 0.01 个 Ah，寿命差 3 到 4 个循环；但排序在 80 个阈值上一次都没翻。所以后面所有寿命数字，我都带着阈值口径报。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两个必须分开的问题：任务 A 在一块电池内部沿时间外推；任务 B 拿几块电池预测一块新的——循环序号在任务 B 里是泄漏特征。评测也先定死：不用平均 R² 排名，逐点符号检验加分块自助法，两个判据都显著才下结论。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模型同台，刻意不用均方误差排名——只有四块电池，换个切分点排序就会变。结论：线性和趋势加高斯过程的点预测无显著差异；双指数在三块上显著更差；随机森林两块显著更差。注意：不显著不等于一样好，是样本不够分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这页最想讲。随机森林训练 R² 接近 0.997，测试 R² 却是负的——比直接猜均值还差。原因不是过拟合：超出训练区间的输入永远落到同一片叶子，输出必然是常数，加树、加深都救不回来。所以我最后选先拟合趋势线，再让高斯过程学残差。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趋势加高斯过程把寿命从一个数变成一个分布：300 条后验路径各自求穿越点。诚实声明：平稳核不会自己外推，离开数据后后验均值归零、点预测退化为趋势线。它的价值不是更准，是能给出区间——而区间偏窄，第六章当面算清。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把不确定性拆成三层、全部折算成循环，三者同量级。定义层来自阈值惯例，不归模型管。还要承认一点：模型形式层的宽度全部来自双指数——线性和高斯过程在远场的点预测是同一个数。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九成区间实际只盖住六成三。更重要的是块间差异：最好的接近九成九，最差的只有一成。驱动因素是点预测偏差，块间差 22 倍，而不是区间宽度——只差 1.15 倍。区间窄不代表预测准。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落到能执行的层面：更换时刻等于更严阈值的穿越点减裕度，代价是提前消耗两到四成寿命，属于风险对冲成本。但有一块电池，等预测稳定时已晚于建议更换点，对它不等待预测稳定，直接更换。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五条结论：两条关于模型，两条关于不确定性，一条关于怎么用。最后说句工程上的：全部结果一条命令重建，40 个产物逐字节一致，42 条变异测试加 43 条病态输入全过。谢谢老师。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备用页：阈值敏感性细节，问答时翻到这里。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备用页：任务 B 与 LOBOCV 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备用页：区间校准逐块数字。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备用页：复现命令与测试清单，老师要求现场跑的时候翻到这里。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3048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BFCDE6"/>
                </a:solidFill>
                <a:latin typeface="微软雅黑"/>
                <a:ea typeface="微软雅黑"/>
              </a:rPr>
              <a:t>《Python 数据分析编程》课程项目　·　题目三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55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无人设备电池健康评估与剩余寿命预测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8E2F2"/>
                </a:solidFill>
                <a:latin typeface="微软雅黑"/>
                <a:ea typeface="微软雅黑"/>
              </a:rPr>
              <a:t>容量退化建模与不确定性量化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34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BFCDE6"/>
                </a:solidFill>
                <a:latin typeface="微软雅黑"/>
                <a:ea typeface="微软雅黑"/>
              </a:rPr>
              <a:t>第 20 组　黄锦添　25121605　·　上海大学 未来技术学院 人工智能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16636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21808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4 块 · 636 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875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8E2F2"/>
                </a:solidFill>
                <a:latin typeface="微软雅黑"/>
                <a:ea typeface="微软雅黑"/>
              </a:rPr>
              <a:t>NASA PCoE 锂离子电池老化数据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516636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5321808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4 类模型 · 2 个任务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6875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8E2F2"/>
                </a:solidFill>
                <a:latin typeface="微软雅黑"/>
                <a:ea typeface="微软雅黑"/>
              </a:rPr>
              <a:t>个体内外推 / 跨个体早期预测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516636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5321808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1 条命令重建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6875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8E2F2"/>
                </a:solidFill>
                <a:latin typeface="微软雅黑"/>
                <a:ea typeface="微软雅黑"/>
              </a:rPr>
              <a:t>17 步管线 · 40 个产物逐字节一致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01 · 问题与数据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数据概览：容量退化曲线与实测寿命分布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01_capacity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949440" cy="4562027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18120" y="1371600"/>
            <a:ext cx="3840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NASA PCoE 老化实验：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4 块锂离子电池、逐循环放电容量、恒温 24 ℃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EOL 判据：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容量首次 ≤ 1.4 Ah（额定的 70%）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实测寿命：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B0005 = 125，B0006 = 109，B0018 = 97 循环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B0007：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观测 168 循环未跌破阈值，右删失，寿命 &gt; 168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曲线不光滑：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存在容量再生式回升，最大单步 +0.1519 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01 · 数据与清洗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数据清洗：五类数据陷阱的处理决策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499616"/>
            <a:ext cx="3282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陷阱 1｜温度列零方差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83664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636 行全为 24.0 ℃——保留但禁止作特征，温度维度不可分析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3716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716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99616"/>
            <a:ext cx="3282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陷阱 2｜容量超额定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83664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B0006 前 7 循环 &gt; 2.0 Ah——保留原值并加标记列，截断将改变衰减斜率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3716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13716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499616"/>
            <a:ext cx="3282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陷阱 3｜容量再生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1883664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12 个(电池,循环)对回升 &gt; 0.05 Ah——不做平滑，建模阶段以趋势加残差结构显式处理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004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004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328416"/>
            <a:ext cx="3282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陷阱 4｜右删失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712464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B0007 观测 168 循环未达阈值，寿命记 &gt; 168（右删失），误记为 168 将系统性低估寿命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32004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32004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328416"/>
            <a:ext cx="3282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陷阱 5｜统计离群点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712464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3σ 与 IQR 两种口径都标不出点——趋势数据没有离群点可言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5864" y="32004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55864" y="3200400"/>
            <a:ext cx="82296" cy="1572768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3328416"/>
            <a:ext cx="3282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E07B27"/>
                </a:solidFill>
                <a:latin typeface="微软雅黑"/>
                <a:ea typeface="微软雅黑"/>
              </a:rPr>
              <a:t>暗线｜特征泄漏防线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3712464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cap/额定、cap/首循环为容量列的精确仿射变换（残差 2.2×10⁻¹⁶），用作特征将构成标签泄漏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663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清理结果：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636 行记录全部保留、未删除任何一条；全部决策由 11 条数据体检断言约束，数据更新将触发报警而非静默通过。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01 · 探索性分析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个体差异量化与容量再生的共模成分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02_individual_differences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72" y="1234440"/>
            <a:ext cx="3014335" cy="229971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9" name="Picture 8" descr="fig02_individual_difference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65" y="3643884"/>
            <a:ext cx="3088948" cy="229971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6016752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注：（b）归一化形状仅用于展示，不得用作特征。</a:t>
            </a:r>
          </a:p>
        </p:txBody>
      </p:sp>
      <p:pic>
        <p:nvPicPr>
          <p:cNvPr id="11" name="Picture 10" descr="fig04_trend_resi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139" y="1234440"/>
            <a:ext cx="4089680" cy="310896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4526280"/>
            <a:ext cx="5440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五维量化：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水平 / 速率 / 形状 / 波动 / 寿命，逐维给数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共模分解：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同批三块电池的残差 82.4% 来自共同成分（零基准 33.3%），三块在循环 90 同时出现各自最大回升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结论：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容量再生不构成个体独立的随机现象，共模成分计入数据层不确定性，不得以平滑方式消除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01 · 探索性分析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EOL 阈值敏感性：读数对阈值敏感，排序对阈值稳健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05_eol_threshold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55104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371600"/>
            <a:ext cx="37947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±0.05 Ah 窗口：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寿命读数极差 30–40 循环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换 EOL 口径：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同一块电池寿命最大相差 2.16 倍；计入删失下界至少 2.96 倍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排序稳定：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80 个阈值上恒为 B0018 &lt; B0006 &lt; B0005 &lt; B0007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B0007 删失裕度极小：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最低容量距阈值仅 0.0005 Ah（额定的 0.025%）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70916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864608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E07B27"/>
                </a:solidFill>
                <a:latin typeface="微软雅黑"/>
                <a:ea typeface="微软雅黑"/>
              </a:rPr>
              <a:t>方法论结论：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寿命序关系的报告可不带阈值；寿命点估计的报告必须注明阈值与窗口口径。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02 ·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任务定义与评测口径：个体内外推与跨个体早期预测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440680" cy="475488"/>
          </a:xfrm>
          <a:prstGeom prst="roundRect">
            <a:avLst>
              <a:gd name="adj" fmla="val 7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990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任务 A｜个体内轨迹外推（主线）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983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输入：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一块电池自己的前 M = 80 个循环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输出：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后段容量 + EOL（外推 52–88 循环）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模型：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M1 线性 / M2 双指数 / M3 随机森林 / M4 趋势和 GPR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循环序号：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作为时间轴（回归自变量）使用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1325880"/>
            <a:ext cx="5440680" cy="475488"/>
          </a:xfrm>
          <a:prstGeom prst="roundRect">
            <a:avLst>
              <a:gd name="adj" fmla="val 7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3990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任务 B｜跨个体早期预测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65960"/>
            <a:ext cx="4983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输入：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前 K = 50 循环提取的 10 个统计特征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输出：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一块没见过的电池的寿命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验证：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留一电池交叉验证（LOBOCV）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循环序号：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标签泄漏特征，禁止使用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11183112" cy="18288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07B27"/>
                </a:solidFill>
                <a:latin typeface="微软雅黑"/>
                <a:ea typeface="微软雅黑"/>
              </a:rPr>
              <a:t>评测口径三条纪律：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① 时序划分，不随机打乱；训练段指标不参与排名，记忆样本不代表外推能力；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② 不以平均 R² 排名（分母是各自方差，跨电池平均不具备统计意义），改用两个独立判据：逐点符号检验 + 分块自助法置信区间（块长 1/3/5/10/20 × 2000 次重采样），两判据同时显著方可下结论；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③ EOL 按三态分开报告：有值 / 真值删失 / 模型不越阈——混合统计将引入系统性错误。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03 ·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四模型对比：逐点符号检验与分块自助法显著性判定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12_model_comparison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04" y="1234440"/>
            <a:ext cx="3349270" cy="229971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9" name="Picture 8" descr="fig12_model_comparison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120" y="3643884"/>
            <a:ext cx="3218439" cy="229971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543800" y="1325880"/>
            <a:ext cx="4114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M4 vs M1：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仅 B0005 两判据一致显著（86/88 点更近，p = 2.5×10⁻²³），其余可忽略或冲突——点预测精度无实质差异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M2 双指数：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三块上显著更差；主因不是参数不可辨识（条件数 10¹¹–10¹²），而是末端系统性低估寿命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M3 随机森林：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两块显著更差；EOL 预测 4/4 不越阈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EOL 误差：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M1 / M4 平均 12.0 循环，M2 平均 12.7 循环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92040"/>
            <a:ext cx="4114800" cy="96012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5029200"/>
            <a:ext cx="37490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>
                <a:solidFill>
                  <a:srgbClr val="E07B27"/>
                </a:solidFill>
                <a:latin typeface="微软雅黑"/>
                <a:ea typeface="微软雅黑"/>
              </a:rPr>
              <a:t>结论：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M4 的增量价值不在点预测精度，而在输出 EOL 后验分布与预测区间。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03 · 结果｜反例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随机森林的外推失效：结构性偏差的可证明机制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07_rf_extra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07" y="1234440"/>
            <a:ext cx="5906264" cy="379476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543800" y="132588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41732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微软雅黑"/>
                <a:ea typeface="微软雅黑"/>
              </a:rPr>
              <a:t>0.997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1993392"/>
            <a:ext cx="1819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训练段 R²（逐点记忆训练样本）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23444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32588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B33030"/>
                </a:solidFill>
                <a:latin typeface="微软雅黑"/>
                <a:ea typeface="微软雅黑"/>
              </a:rPr>
              <a:t>−3.57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5792" y="1901952"/>
            <a:ext cx="1819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测试段 R² 最差（B0005），4/4 为负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834640"/>
            <a:ext cx="4114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机制可证明：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超出训练区间的输入永远走同一条分裂路径，316 个测试点预测值完全相同（极差 = 0）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树长到底时：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外推值等于末次训练观测，即模型外推能力的信息上限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加树不能修复：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10 → 1000 棵，外推常数最多动 0.0037 Ah——失效源于偏差而非方差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寿命预测方向错误：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对三块已失效个体均预测不越阈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12080"/>
            <a:ext cx="11183112" cy="777240"/>
          </a:xfrm>
          <a:prstGeom prst="roundRect">
            <a:avLst>
              <a:gd name="adj" fmla="val 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58384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07B27"/>
                </a:solidFill>
                <a:latin typeface="微软雅黑"/>
                <a:ea typeface="微软雅黑"/>
              </a:rPr>
              <a:t>由该反例引出主模型设计：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先拟合线性趋势，再以高斯过程建模残差，趋势项与残差项均显式携带方差。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03 ·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趋势和高斯过程回归：EOL 的后验分布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09_gp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623560" cy="3689224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9" name="Picture 8" descr="fig10_eol_pos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500" y="1234440"/>
            <a:ext cx="4746679" cy="283464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420624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结构：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cap(t) = 线性趋势和残差 GP 之和；趋势参数方差显式传播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产出：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300 条后验路径各自求穿越，EOL 成为分布（B0005 中位 145，90% 区间 129–164）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E07B27"/>
                </a:solidFill>
                <a:latin typeface="微软雅黑"/>
                <a:ea typeface="微软雅黑"/>
              </a:rPr>
              <a:t>适用性说明：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RBF 核相关长度仅 3.6–23 循环，外推 52–88——远场点预测退化为趋势线，GP 的贡献在于如实放大区间而非提升精度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5623560" cy="6858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58968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该区间仅含数据层不确定性（残差噪声与趋势参数方差），不含定义层与模型形式层，其校准缺口在第 6 章定量归因。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04 · 不确定性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三层不确定性预算：定义、模型形式与数据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13_uncertainty_budget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620" y="1234440"/>
            <a:ext cx="3200839" cy="227685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9" name="Picture 8" descr="fig13_uncertainty_budget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424" y="3621024"/>
            <a:ext cx="3215231" cy="227685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360920" y="1371600"/>
            <a:ext cx="4297680" cy="132588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371600"/>
            <a:ext cx="82296" cy="1325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148132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定义层　</a:t>
            </a: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11–20</a:t>
            </a: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 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1938528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失效判据阈值选取（τ ± 0.05 Ah）引入的 EOL 极差，属口径约定而非模型误差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852928"/>
            <a:ext cx="4297680" cy="132588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852928"/>
            <a:ext cx="82296" cy="132588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296265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模型形式层　</a:t>
            </a: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0–22</a:t>
            </a: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 循环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419856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模型形式选择引入的 EOL 半极差，其宽度全部来自双指数模型，应解释为形式差异的上界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334256"/>
            <a:ext cx="4297680" cy="132588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4334256"/>
            <a:ext cx="82296" cy="132588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444398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数据层　</a:t>
            </a: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6–20</a:t>
            </a: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 循环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901184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残差噪声 + 趋势参数（M4 后验 90% 半宽）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</a:rPr>
              <a:t>合并口径：RSS（独立假设，乐观）/ SUM（最坏情况，保守，28–53 循环）——运维取 SUM。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04 · 不确定性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区间校准：名义覆盖率与实际覆盖率的缺口归因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16_calibration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537" y="1234440"/>
            <a:ext cx="3209804" cy="227685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9" name="Picture 8" descr="fig16_calibration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048" y="3621024"/>
            <a:ext cx="3222782" cy="227685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6903720" y="137160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B33030"/>
                </a:solidFill>
                <a:latin typeface="微软雅黑"/>
                <a:ea typeface="微软雅黑"/>
              </a:rPr>
              <a:t>63%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084832"/>
            <a:ext cx="2139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名义 90% 区间的实际覆盖率（316 个测试点）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37160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46304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微软雅黑"/>
                <a:ea typeface="微软雅黑"/>
              </a:rPr>
              <a:t>10% / 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5752" y="2084832"/>
            <a:ext cx="2139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逐块覆盖率最差 / 最好（极差 89 个百分点）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971800"/>
            <a:ext cx="47548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驱动因素是偏差：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点预测中位偏差逐块差 22.5 倍，区间宽度只差 1.15 倍——区间宽度与预测精度相互独立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有效样本量受自相关折减：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4 条序列高度自相关，有效样本约 109，块间差异在噪声范围内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结论随切分点摆动：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M = 60 / 80 / 100 下合并覆盖率为 34% / 63% / 67%，引用必须带 M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补到 90% 需放宽 2.8 倍：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测试集上的事后诊断量，不可直接部署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05 · 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维护策略：更换时刻、采集时长与阈值口径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pic>
        <p:nvPicPr>
          <p:cNvPr id="8" name="Picture 7" descr="fig17_strategy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192" y="1234440"/>
            <a:ext cx="3242294" cy="229971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9" name="Picture 8" descr="fig17_strategy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192" y="3643884"/>
            <a:ext cx="3242294" cy="2299716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543800" y="1371600"/>
            <a:ext cx="4114800" cy="1024128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630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S1 更换时刻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10512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= 更严阈值（1.45 Ah）实测穿越点 − 模型与数据裕度；构造上保证不晚于失效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542032"/>
            <a:ext cx="4114800" cy="1024128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63347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S2 采集时长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80944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观测到预测稳定时刻（第 50–100 循环）再报寿命，可省 68–98 循环的数据量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712464"/>
            <a:ext cx="4114800" cy="1024128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80390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S3 阈值口径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151376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先把 τ 与窗口写进规范：报排序可以不带 τ，报绝对寿命必须带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502920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5138928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B33030"/>
                </a:solidFill>
                <a:latin typeface="微软雅黑"/>
                <a:ea typeface="微软雅黑"/>
              </a:rPr>
              <a:t>例外：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B0006 到达预测稳定时刻时已晚于建议更换点（在线剩余寿命为负）——对该个体不等待区间收敛，按早期观测直接安排更换。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06 · 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2646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5331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寿命是依赖阈值口径的统计量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82496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阈值 ±0.05 Ah → 读数差 30–40 循环；序关系在 80 个阈值上不变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39696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2860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128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高训练精度不构成外推能力的证据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42032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随机森林训练 R² 0.997、测试全负——树模型函数类不包含趋势成分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9232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14553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07238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定义层与模型形式层不确定性不小于数据层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015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定义层 / 模型形式层 / 数据层 = 11–20 / 0–22 / 6–20 循环，同量级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58768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00507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9319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区间宽度与预测精度相互独立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61104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名义 90% 实际覆盖 63%，缺口由点预测偏差驱动；区间收敛不构成预测正确的充分条件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18304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86460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914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</a:rPr>
              <a:t>维护判据须将口径约定与不确定性分离报告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206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更换时刻 = 更严阈值穿越点 − 裕度；代价 26.3%–41.6% 寿命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E07B27"/>
                </a:solidFill>
                <a:latin typeface="微软雅黑"/>
                <a:ea typeface="微软雅黑"/>
              </a:rPr>
              <a:t>全部结果一条命令重建：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python scripts/run_all.py --check（17 步 · 40 个产物逐字节一致 · 42 条变异测试 + 43 条病态输入全过）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备用 A　·　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EOL 阈值敏感性全表与口径换算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3474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备用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6949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阈值口径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B0005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B0006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B0007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B0018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τ = 1.60 Ah（额定 80%）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τ = 1.40 Ah（额定 70%，主线）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125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109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删失(&gt;168)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97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τ = 1.30 Ah（额定 65%）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删失(&gt;168)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删失(&gt;132)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474720"/>
            <a:ext cx="69494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口径换算：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四种 EOL 定义下同一块电池寿命最大差 2.16 倍；计入删失下界至少 2.96 倍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B0007 的特殊性：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有效窗口只有 0.0495 Ah，不能与另三块同尺比较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容量—寿命换算：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|b| ≈ 0.003–0.007 Ah/循环 ⇒ 容量差 0.01 Ah ≈ 寿命差 1.4–3.3 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39319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07B27"/>
                </a:solidFill>
                <a:latin typeface="微软雅黑"/>
                <a:ea typeface="微软雅黑"/>
              </a:rPr>
              <a:t>备答要点：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口径选择的依据：70% 为工程惯例（额定 80%/70% 均常见）；本报告不依赖单一选择，τ 全区间扫描加四种口径对照，排序结论在 80 个 τ 上不变。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B0007 的处理：右删失，全程单独立口径，寿命记 &gt; 168，不与已失效个体混算误差。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备用 B　·　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任务 B 的 LOBOCV 与零基准结果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3474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备用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B</a:t>
            </a:r>
          </a:p>
        </p:txBody>
      </p:sp>
      <p:pic>
        <p:nvPicPr>
          <p:cNvPr id="8" name="Picture 7" descr="fig11_lobo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309360" cy="2308752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086600" y="1417320"/>
            <a:ext cx="45720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设置：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前 K = 50 循环提取 10 个特征；留一电池交叉验证，有标签个体 n = 3，每折训练 2 个点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结果：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零基准（训练均值）MAE = 14.7 循环；最好的单特征 26.4——全部特征模型均不及零基准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最坏一折：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用首循环容量预测 B0006 得 3463 循环（真值 109）：两个训练点特征只差 0.0015，斜率被放大 667 倍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防泄漏证据：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扰动臂 + 删行臂两条正实验逐格判等，三条负控制（未来值 / 未来行数 / 未来标签）全部被检出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正确读法：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并非机器学习方法无效，而是 3 个有标签个体不足以支撑跨个体学习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备用 C　·　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区间校准逐块明细与有效样本量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3474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备用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6583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90% 档逐块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B0005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B0006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B0007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B0018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PICP（实际覆盖率）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84.1%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MPIW（Ah）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0.1446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0.1482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0.1369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0.1286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中位偏差（Ah）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0.0564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0.1732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0.0077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0.0574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有效样本量（AR1 近似）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12.9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2.9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90.1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3.2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749039"/>
            <a:ext cx="65836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316 个点 ≠ 316 个独立样本：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4 条序列 lag-1 自相关最高 0.937，合并有效样本约 109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剔除任一块：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合并 PICP@90 在 48.7%–82.9% 之间摆动——块间差异不应解释为个体固有差异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50" b="1">
                <a:solidFill>
                  <a:srgbClr val="1F3864"/>
                </a:solidFill>
                <a:latin typeface="微软雅黑"/>
                <a:ea typeface="微软雅黑"/>
              </a:rPr>
              <a:t>M 依赖性：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M = 60 / 80 / 100 下合并 PICP@90 = 34% / 63% / 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371600"/>
            <a:ext cx="4206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07B27"/>
                </a:solidFill>
                <a:latin typeface="微软雅黑"/>
                <a:ea typeface="微软雅黑"/>
              </a:rPr>
              <a:t>备答要点：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区间不主动放宽的理由：放宽区间可改善覆盖率读数，但会掩盖不确定性；本报告选择如实暴露缺口并归因于点预测偏差。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2.8 倍放宽因子的性质：测试集上的事后诊断量而非校准方案，以测试真值调节区间，不可部署。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微软雅黑"/>
                <a:ea typeface="微软雅黑"/>
              </a:rPr>
              <a:t>备用 D　·　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复现、测试与仓库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3474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FB3D6"/>
                </a:solidFill>
                <a:latin typeface="微软雅黑"/>
                <a:ea typeface="微软雅黑"/>
              </a:rPr>
              <a:t>备用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$ python scripts/run_all.py --check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D8E2F2"/>
                </a:solidFill>
                <a:latin typeface="微软雅黑"/>
                <a:ea typeface="微软雅黑"/>
              </a:rPr>
              <a:t>17 步管线约 90 秒；与 MANIFEST.sha256 对账，40 个产物逐字节一致（干净副本中实测通过）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$ python scripts/mutation_test.py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D8E2F2"/>
                </a:solidFill>
                <a:latin typeface="微软雅黑"/>
                <a:ea typeface="微软雅黑"/>
              </a:rPr>
              <a:t>42 条注入错误必须全部被抓——断言不是摆设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257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仓库：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github.com/Tony-Stank-shift/battery-health-and-lifespan-prediction（Git 管理，分工与提交记录一一对应）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病态输入测试 43 条：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NaN / 常数序列 / 单点 / 空表……不许静默给错答案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数据体检断言 11 条：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写死关键常量，课程方更新数据会立刻报警（特性，不是 bug）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管线 17 步：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数据体检 → 清洗 → 退化分析 → 再生分解 → 阈值敏感性 → 特征与泄漏证明 → 评测口径 → 四个模型 → 对比 → 三层不确定性 → 预警 → 放大 → 校准 → 策略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